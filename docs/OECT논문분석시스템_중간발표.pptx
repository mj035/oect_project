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3" r:id="rId15"/>
    <p:sldId id="274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49AF1-D6AD-4CF3-9F7E-68D54A39005F}" v="32" dt="2026-05-08T15:11:39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46920" y="2560320"/>
            <a:ext cx="457200" cy="457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486400" cy="275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3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PROJECT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8686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연구 도우미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OECT 논문 검색 &amp; 분석 시스템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7315200" cy="7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2578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김동우    손윤성    오민재    조혜원</a:t>
            </a:r>
          </a:p>
        </p:txBody>
      </p:sp>
      <p:sp>
        <p:nvSpPr>
          <p:cNvPr id="11" name="Oval 10"/>
          <p:cNvSpPr/>
          <p:nvPr/>
        </p:nvSpPr>
        <p:spPr>
          <a:xfrm>
            <a:off x="10835640" y="6126480"/>
            <a:ext cx="320040" cy="320040"/>
          </a:xfrm>
          <a:prstGeom prst="ellips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611880" cy="19659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프로젝트 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94560"/>
            <a:ext cx="3611880" cy="19659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OECT 배경 / 특성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611880" cy="19659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2900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시스템 + 5개 핵심 기술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3611880" cy="19659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Difficulty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현재 한계 &amp; 개선 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343400"/>
            <a:ext cx="3611880" cy="19659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663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834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Expected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57784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343400"/>
            <a:ext cx="3611880" cy="19659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4663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834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577840"/>
            <a:ext cx="2880360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02 / 1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01  · 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프로젝트 정의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39" y="2194560"/>
            <a:ext cx="11200537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한 줄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2389"/>
            <a:ext cx="10306266" cy="109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OECT 논문 기반</a:t>
            </a:r>
            <a:r>
              <a:rPr lang="en-US" sz="2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재료 · 회로 · 공정 분석 및
소자 구현 전략을 제안하는</a:t>
            </a:r>
            <a:r>
              <a:rPr lang="en-US" sz="2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연구 보조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02  ·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OECT 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Organic Electrochemical Transistor  ·  유기 전기화학 트랜지스터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120640" cy="365760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동작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2062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전해질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이온으로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유기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반도체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채널의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전도도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(conductance)를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조절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
→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이온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전자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결합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i="0" dirty="0" err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동작</a:t>
            </a:r>
            <a:r>
              <a:rPr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
    (mixed ionic-electronic conduction)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46888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ec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877" y="2743200"/>
            <a:ext cx="5045285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61722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OECT device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02  ·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OECT </a:t>
            </a:r>
            <a:r>
              <a:rPr sz="3600" b="1" i="0" dirty="0" err="1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특성</a:t>
            </a:r>
            <a:endParaRPr sz="3600" b="1" i="0" dirty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Characteristics List"/>
          <p:cNvSpPr txBox="1"/>
          <p:nvPr/>
        </p:nvSpPr>
        <p:spPr>
          <a:xfrm>
            <a:off x="548640" y="2200000"/>
            <a:ext cx="4600000" cy="4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이온–전자 결합 동작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US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낮은 </a:t>
            </a:r>
            <a:r>
              <a:rPr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구동 전압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US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높은 </a:t>
            </a:r>
            <a:r>
              <a:rPr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트랜스컨덕턴스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US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습윤 </a:t>
            </a:r>
            <a:r>
              <a:rPr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환경 친화적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US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재료</a:t>
            </a:r>
            <a:r>
              <a:rPr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·구조 유연성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lang="en-US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상대적 느린 응답</a:t>
            </a:r>
            <a:endParaRPr b="1" i="0" dirty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77482" y="2687854"/>
            <a:ext cx="3019936" cy="2721652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textile_o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102" y="2802277"/>
            <a:ext cx="2157820" cy="247702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77482" y="5586706"/>
            <a:ext cx="30199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Textile OECT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7485" y="485716"/>
            <a:ext cx="3917410" cy="2837425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transfe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761" y="655107"/>
            <a:ext cx="3368858" cy="24970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39998" y="3226513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Transfer curve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7485" y="3514870"/>
            <a:ext cx="3917410" cy="2837425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yc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092" y="3639379"/>
            <a:ext cx="3410336" cy="258840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39998" y="6349892"/>
            <a:ext cx="30723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Cycling stability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01  ·  WHAT —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참고 논문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40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per_title.jpg"/>
          <p:cNvPicPr>
            <a:picLocks noChangeAspect="1"/>
          </p:cNvPicPr>
          <p:nvPr/>
        </p:nvPicPr>
        <p:blipFill>
          <a:blip r:embed="rId2"/>
          <a:srcRect b="34349"/>
          <a:stretch>
            <a:fillRect/>
          </a:stretch>
        </p:blipFill>
        <p:spPr>
          <a:xfrm>
            <a:off x="1005840" y="2468880"/>
            <a:ext cx="10177272" cy="16999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709160"/>
            <a:ext cx="11091672" cy="173736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핵심 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101772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부드러운 hydrogel 기반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97880"/>
            <a:ext cx="10177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→  생체조직과 기계적 mismatch 감소     →  생체신호 모니터링 적합 OECT 가능성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  · 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시스템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 → 분석 → 시각화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8820" y="2331720"/>
            <a:ext cx="269748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4580" y="2697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4580" y="31089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4580" y="37490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논문 검색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4580" y="4480560"/>
            <a:ext cx="548640" cy="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54580" y="46177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TECH  ·  OpenAlex API</a:t>
            </a:r>
          </a:p>
        </p:txBody>
      </p:sp>
      <p:pic>
        <p:nvPicPr>
          <p:cNvPr id="19" name="Picture 18" descr="logo_opena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580" y="5132104"/>
            <a:ext cx="1965960" cy="89147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869180" y="2331720"/>
            <a:ext cx="269748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34940" y="2697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31089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7490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PDF 전문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4940" y="4480560"/>
            <a:ext cx="548640" cy="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34940" y="46177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TECH  ·  Gemini 2.5</a:t>
            </a:r>
          </a:p>
        </p:txBody>
      </p:sp>
      <p:pic>
        <p:nvPicPr>
          <p:cNvPr id="26" name="Picture 25" descr="logo_google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5313074"/>
            <a:ext cx="1965960" cy="529531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749540" y="2331720"/>
            <a:ext cx="269748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5300" y="26974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5300" y="3108960"/>
            <a:ext cx="1965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5300" y="37490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결과 시각화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5300" y="4480560"/>
            <a:ext cx="548640" cy="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5300" y="461772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TECH  ·  PyMuPDF</a:t>
            </a:r>
          </a:p>
        </p:txBody>
      </p:sp>
      <p:pic>
        <p:nvPicPr>
          <p:cNvPr id="33" name="Picture 32" descr="logo_pymupd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5120640"/>
            <a:ext cx="182880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6686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490FCCCF-91FA-2956-23A2-31CF94FEB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725" y="661118"/>
            <a:ext cx="5493804" cy="12591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  ·  AI — TECH </a:t>
            </a:r>
            <a:r>
              <a:rPr lang="en-US"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lang="en-US"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000" b="1" i="0" spc="200">
              <a:solidFill>
                <a:srgbClr val="CC78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OpenAlex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논문 검색  ·  무료 학술 메타데이터  ·  DOI · PDF 링크 정확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120640" cy="155448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CHATGPT 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출처 불투명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근거 논문이 어디인지 추적 어려움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69080"/>
            <a:ext cx="5120640" cy="1554480"/>
          </a:xfrm>
          <a:prstGeom prst="roundRect">
            <a:avLst>
              <a:gd name="adj" fmla="val 45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OPENALEX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DOI · PDF 링크 정확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출처가 보이는 검색  ·  학술 메타데이터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5120640" cy="777240"/>
          </a:xfrm>
          <a:prstGeom prst="roundRect">
            <a:avLst>
              <a:gd name="adj" fmla="val 4500"/>
            </a:avLst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정밀 검색 키워드 매핑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장기 6 × 행동 4  =  24개 키워드 조합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37744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68880"/>
            <a:ext cx="5486400" cy="337407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52160" y="608076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검색 결과 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  ·  AI — TECH </a:t>
            </a:r>
            <a:r>
              <a:rPr lang="en-US"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lang="en-US"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000" b="1" i="0" spc="200">
              <a:solidFill>
                <a:srgbClr val="CC78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Gemini 2.5-flash  —  논문 PDF 전문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572000" cy="188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6 </a:t>
            </a:r>
            <a:r>
              <a:rPr lang="ko-KR" altLang="en-US"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카테고리</a:t>
            </a: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 구조화 추출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2697480" cy="7772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148840" cy="205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 err="1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재료</a:t>
            </a:r>
            <a:r>
              <a:rPr sz="1200" b="0" i="0" dirty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 (8 </a:t>
            </a:r>
            <a:r>
              <a:rPr lang="ko-KR" altLang="en-US" sz="1200" b="0" i="0" dirty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종류</a:t>
            </a:r>
            <a:r>
              <a:rPr sz="1200" b="0" i="0" dirty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606040"/>
            <a:ext cx="2697480" cy="7772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743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device_structure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06324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소자 구조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697480" cy="7772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3016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동작 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3493008"/>
            <a:ext cx="2697480" cy="7772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363016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95020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공정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79976"/>
            <a:ext cx="2697480" cy="7772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51713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3717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응용 분야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5848" y="4379976"/>
            <a:ext cx="2697480" cy="7772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0168" y="451713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circuit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837176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회로 정보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12664"/>
            <a:ext cx="5504688" cy="777240"/>
          </a:xfrm>
          <a:prstGeom prst="roundRect">
            <a:avLst>
              <a:gd name="adj" fmla="val 4500"/>
            </a:avLst>
          </a:prstGeom>
          <a:solidFill>
            <a:srgbClr val="E8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449824"/>
            <a:ext cx="3657600" cy="153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MATERIALS  →  8 </a:t>
            </a:r>
            <a:r>
              <a:rPr lang="ko-KR" altLang="en-US" sz="9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종류</a:t>
            </a:r>
            <a:r>
              <a:rPr sz="9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 분할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4956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substrate · source · drain · channel · gate · electrolyte · interconnect · encapsulation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377440"/>
            <a:ext cx="5285232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pdf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804" y="2468880"/>
            <a:ext cx="5216508" cy="342008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55080" y="6080760"/>
            <a:ext cx="52852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PDF 전문 분석 결과 화면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  ·  AI — TECH </a:t>
            </a:r>
            <a:r>
              <a:rPr lang="en-US"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lang="en-US"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000" b="1" i="0" spc="200">
              <a:solidFill>
                <a:srgbClr val="CC78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PyMuPDF 이미지 추출  +  Gemini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그린 그림 ✕   ·   논문 원본 figure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120640" cy="10058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PyMuPDF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803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PDF에서 figure 일괄 추출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93008"/>
            <a:ext cx="5120640" cy="10058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7588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02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Gemini 분류기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9592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카테고리 자동 라벨링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08576"/>
            <a:ext cx="5120640" cy="100584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914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657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탭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11149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D3D3A"/>
                </a:solidFill>
                <a:latin typeface="맑은 고딕"/>
                <a:ea typeface="맑은 고딕"/>
                <a:cs typeface="맑은 고딕"/>
              </a:rPr>
              <a:t>탭별 figure 자동 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5391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LLM = 분류기  ·  그림 = 템플릿  (schemdraw 4종)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37744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gure_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468880"/>
            <a:ext cx="5303520" cy="34381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0" y="608076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회로 figure 자동 추출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04  · 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현재 한계 &amp; 개선 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ISSUE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754880" cy="376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200" b="1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많은 논문에서 회로가 텍스트 위주</a:t>
            </a:r>
            <a:endParaRPr sz="2200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49040"/>
            <a:ext cx="4754880" cy="7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35040" y="228600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ISSUE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971800"/>
            <a:ext cx="4754880" cy="36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모션인식 시스템 도입 중</a:t>
            </a:r>
            <a:endParaRPr sz="2200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19672" y="3749040"/>
            <a:ext cx="4754880" cy="7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259BE1B5-1023-11FA-54D6-8182D5AB1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3509750"/>
            <a:ext cx="4295569" cy="20399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AB0EB4E-432D-F3DF-29C6-D093CE29E9F5}"/>
              </a:ext>
            </a:extLst>
          </p:cNvPr>
          <p:cNvSpPr txBox="1"/>
          <p:nvPr/>
        </p:nvSpPr>
        <p:spPr>
          <a:xfrm>
            <a:off x="1150189" y="5639425"/>
            <a:ext cx="3973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회로를 그려주는 </a:t>
            </a:r>
            <a:r>
              <a:rPr lang="en-US" altLang="ko-KR"/>
              <a:t>python </a:t>
            </a:r>
            <a:r>
              <a:rPr lang="ko-KR" altLang="en-US"/>
              <a:t>라이브러리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67562" y="3989094"/>
            <a:ext cx="4106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사용자가 직접 카메라를 통해 모션으로 신체부위를 선택</a:t>
            </a:r>
            <a:br>
              <a:rPr lang="en-US" altLang="ko-KR"/>
            </a:br>
            <a:br>
              <a:rPr lang="en-US" altLang="ko-KR"/>
            </a:b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05  ·  EXPECTED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기대 효과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694176" cy="1874519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6400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latin typeface="Segoe UI Emoji"/>
              </a:rP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dirty="0" err="1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700"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i="0" dirty="0" err="1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700"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i="0" dirty="0" err="1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단축</a:t>
            </a:r>
            <a:endParaRPr sz="1700" b="1" i="0" dirty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OECT </a:t>
            </a:r>
            <a:r>
              <a:rPr sz="1200" b="0" i="0" dirty="0" err="1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논문</a:t>
            </a:r>
            <a:r>
              <a:rPr sz="1200" b="0" i="0" dirty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i="0" dirty="0" err="1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200" b="0" i="0" dirty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i="0" dirty="0" err="1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속도</a:t>
            </a:r>
            <a:r>
              <a:rPr sz="1200" b="0" i="0" dirty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 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286000"/>
            <a:ext cx="3694176" cy="1874519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2606040"/>
            <a:ext cx="6400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latin typeface="Segoe UI Emoji"/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200400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통합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365760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재료 · 회로 · 공정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286000"/>
            <a:ext cx="3694176" cy="1874519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0496" y="2606040"/>
            <a:ext cx="6400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latin typeface="Segoe UI Emoj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3200400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구현 방향 도출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657600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소자 설계 빠른 결정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1"/>
            <a:ext cx="3694176" cy="1874519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6400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latin typeface="Segoe UI Emoji"/>
              </a:rP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93791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초기 기획 효율 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1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리서치 phase 가속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4279391"/>
            <a:ext cx="3694176" cy="1874519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4599431"/>
            <a:ext cx="6400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latin typeface="Segoe UI Emoji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5193791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맞춤형 인사이트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5650991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응용 목적별 설계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4279391"/>
            <a:ext cx="3694176" cy="1874519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0496" y="4599431"/>
            <a:ext cx="6400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latin typeface="Segoe UI Emoji"/>
              </a:rPr>
              <a:t>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5193791"/>
            <a:ext cx="2962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확장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5650991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다른 분야로 일반화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1097280"/>
            <a:ext cx="502920" cy="502920"/>
          </a:xfrm>
          <a:prstGeom prst="ellips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5212080"/>
            <a:ext cx="1280160" cy="1280160"/>
          </a:xfrm>
          <a:prstGeom prst="ellipse">
            <a:avLst/>
          </a:prstGeom>
          <a:solidFill>
            <a:srgbClr val="A9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6400800" cy="7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7315200" cy="992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Q&amp;</a:t>
            </a:r>
            <a:r>
              <a:rPr lang="en-US" sz="6400" b="1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6400" b="1" i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7315200" cy="307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AI 연구 도우미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김동우    손윤성    오민재    조혜원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AE0A-C0FE-9CFA-4F25-8D95E5D4D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89EEB0-C931-DC72-3E8A-7F2E679453A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E3CCC6-9EB0-59AF-A20D-DAEF65FFA244}"/>
              </a:ext>
            </a:extLst>
          </p:cNvPr>
          <p:cNvSpPr txBox="1"/>
          <p:nvPr/>
        </p:nvSpPr>
        <p:spPr>
          <a:xfrm>
            <a:off x="548640" y="502920"/>
            <a:ext cx="7315200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000" b="1" i="0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000" b="1" i="0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  ·  </a:t>
            </a:r>
            <a:r>
              <a:rPr lang="en-US" sz="1000" b="1" i="0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Q&amp;A</a:t>
            </a:r>
            <a:endParaRPr sz="1000" b="1" i="0" spc="200" dirty="0">
              <a:solidFill>
                <a:srgbClr val="CC78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354B3-237F-D34E-3AC6-AD3FF001A60D}"/>
              </a:ext>
            </a:extLst>
          </p:cNvPr>
          <p:cNvSpPr txBox="1"/>
          <p:nvPr/>
        </p:nvSpPr>
        <p:spPr>
          <a:xfrm>
            <a:off x="548640" y="868680"/>
            <a:ext cx="11091672" cy="557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3600"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mechanism</a:t>
            </a:r>
            <a:endParaRPr sz="3600" b="1" i="0" dirty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B72AB-CCBF-89FC-595D-D4754604F856}"/>
              </a:ext>
            </a:extLst>
          </p:cNvPr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3C18E6D0-904C-048F-0D46-EC838256D0B4}"/>
              </a:ext>
            </a:extLst>
          </p:cNvPr>
          <p:cNvSpPr/>
          <p:nvPr/>
        </p:nvSpPr>
        <p:spPr>
          <a:xfrm>
            <a:off x="548640" y="228600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1CBD6E53-E7AA-0002-4962-17F1CA7F389B}"/>
              </a:ext>
            </a:extLst>
          </p:cNvPr>
          <p:cNvSpPr/>
          <p:nvPr/>
        </p:nvSpPr>
        <p:spPr>
          <a:xfrm>
            <a:off x="6035040" y="228600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80537-3BBD-FD18-C170-8E4C0BA4D967}"/>
              </a:ext>
            </a:extLst>
          </p:cNvPr>
          <p:cNvSpPr txBox="1"/>
          <p:nvPr/>
        </p:nvSpPr>
        <p:spPr>
          <a:xfrm>
            <a:off x="6675120" y="2432237"/>
            <a:ext cx="4206240" cy="3507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양의 </a:t>
            </a:r>
            <a:r>
              <a:rPr lang="en-US" altLang="ko-KR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VG 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인가</a:t>
            </a:r>
            <a:endParaRPr lang="en-US" altLang="ko-KR" sz="16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↓</a:t>
            </a:r>
            <a:endParaRPr lang="en-US" altLang="ko-KR" sz="7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전해질 양이온 </a:t>
            </a:r>
            <a:r>
              <a:rPr lang="en-US" altLang="ko-KR"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M</a:t>
            </a:r>
            <a:r>
              <a:rPr lang="en-US" altLang="ko-KR" baseline="30000" dirty="0"/>
              <a:t>+ 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가 채널로 이동</a:t>
            </a:r>
            <a:endParaRPr lang="en-US" altLang="ko-KR" sz="16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↓</a:t>
            </a:r>
            <a:endParaRPr lang="en-US" altLang="ko-KR" sz="7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PSS</a:t>
            </a:r>
            <a:r>
              <a:rPr lang="en-US" altLang="ko-KR" baseline="30000" dirty="0"/>
              <a:t>- </a:t>
            </a:r>
            <a:r>
              <a:rPr lang="ko-KR" altLang="en-US"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전하 보상</a:t>
            </a:r>
            <a:endParaRPr lang="en-US" altLang="ko-KR" sz="1600" b="0" i="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↓</a:t>
            </a:r>
            <a:endParaRPr lang="en-US" altLang="ko-KR" sz="700" b="0" i="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PEDOT</a:t>
            </a:r>
            <a:r>
              <a:rPr lang="en-US" altLang="ko-KR" sz="1600" baseline="30000" dirty="0"/>
              <a:t>+ 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가 </a:t>
            </a:r>
            <a:r>
              <a:rPr lang="en-US" altLang="ko-KR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PEDOT</a:t>
            </a:r>
            <a:r>
              <a:rPr lang="en-US" altLang="ko-KR" baseline="30000" dirty="0"/>
              <a:t>0 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로 환원</a:t>
            </a:r>
            <a:endParaRPr lang="en-US" altLang="ko-KR" sz="16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↓</a:t>
            </a:r>
            <a:endParaRPr lang="en-US" altLang="ko-KR" sz="7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Polaron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hole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 농도 감소</a:t>
            </a:r>
            <a:endParaRPr lang="en-US" altLang="ko-KR" sz="16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↓</a:t>
            </a:r>
            <a:endParaRPr lang="en-US" altLang="ko-KR" sz="70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0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채널 전도도 감소</a:t>
            </a:r>
            <a:endParaRPr lang="en-US" altLang="ko-KR" sz="1600" b="0" i="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↓</a:t>
            </a:r>
            <a:endParaRPr lang="en-US" altLang="ko-KR" sz="700" b="0" i="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ID </a:t>
            </a:r>
            <a:r>
              <a:rPr lang="ko-KR" altLang="en-US" sz="160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감소</a:t>
            </a:r>
            <a:endParaRPr sz="1600" b="0" i="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3" name="Picture 9" descr="oect_structure.png">
            <a:extLst>
              <a:ext uri="{FF2B5EF4-FFF2-40B4-BE49-F238E27FC236}">
                <a16:creationId xmlns:a16="http://schemas.microsoft.com/office/drawing/2014/main" id="{C1D1A8AF-C931-6F8C-C477-8BCBFB175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98" y="2743200"/>
            <a:ext cx="5045285" cy="31089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73961E-5050-D720-3646-D865BB6996AD}"/>
              </a:ext>
            </a:extLst>
          </p:cNvPr>
          <p:cNvSpPr txBox="1"/>
          <p:nvPr/>
        </p:nvSpPr>
        <p:spPr>
          <a:xfrm>
            <a:off x="769198" y="2353755"/>
            <a:ext cx="4206240" cy="321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Case) p</a:t>
            </a:r>
            <a:r>
              <a:rPr lang="en-US" sz="1600" b="1" i="0" dirty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-type (PEDOT:PSS) – normally on</a:t>
            </a:r>
            <a:endParaRPr sz="1600" b="1" i="0" dirty="0">
              <a:solidFill>
                <a:srgbClr val="25252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54A57-19A7-683F-E09B-DCC19E889B07}"/>
              </a:ext>
            </a:extLst>
          </p:cNvPr>
          <p:cNvSpPr txBox="1"/>
          <p:nvPr/>
        </p:nvSpPr>
        <p:spPr>
          <a:xfrm>
            <a:off x="1391108" y="4136033"/>
            <a:ext cx="4423375" cy="323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latin typeface="+mn-ea"/>
              </a:rPr>
              <a:t>PEDOT⁰ + M⁺:PSS⁻ </a:t>
            </a:r>
            <a:r>
              <a:rPr lang="ko-KR" altLang="en-US" sz="1600" b="1" dirty="0">
                <a:latin typeface="+mn-ea"/>
              </a:rPr>
              <a:t>→</a:t>
            </a:r>
            <a:r>
              <a:rPr lang="en-US" altLang="ko-KR" sz="1600" b="1" dirty="0">
                <a:latin typeface="+mn-ea"/>
              </a:rPr>
              <a:t> PEDOT⁺:PSS⁻ + M⁺ + e⁻</a:t>
            </a:r>
            <a:endParaRPr sz="1600" b="1" i="0" dirty="0">
              <a:latin typeface="+mn-ea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39224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2156-2FC3-0210-A84F-471CBAB4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A6875C-7D19-7E54-23AB-73CB0F0D60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A20B5-D4D1-3514-B36A-B95DB02063C1}"/>
              </a:ext>
            </a:extLst>
          </p:cNvPr>
          <p:cNvSpPr txBox="1"/>
          <p:nvPr/>
        </p:nvSpPr>
        <p:spPr>
          <a:xfrm>
            <a:off x="548640" y="502920"/>
            <a:ext cx="7315200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05  ·  Q&amp;A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81C1C-BFA5-09D5-3788-593CE23773FC}"/>
              </a:ext>
            </a:extLst>
          </p:cNvPr>
          <p:cNvSpPr txBox="1"/>
          <p:nvPr/>
        </p:nvSpPr>
        <p:spPr>
          <a:xfrm>
            <a:off x="548640" y="868680"/>
            <a:ext cx="11091672" cy="557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3600"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Biocompatibility</a:t>
            </a:r>
            <a:endParaRPr sz="3600" b="1" i="0" dirty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B74BFC-54EC-1F06-A8FE-602219ADFD17}"/>
              </a:ext>
            </a:extLst>
          </p:cNvPr>
          <p:cNvSpPr/>
          <p:nvPr/>
        </p:nvSpPr>
        <p:spPr>
          <a:xfrm>
            <a:off x="558704" y="2295077"/>
            <a:ext cx="11200537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B7849D-F502-6D59-A8EC-BC2E2CA59017}"/>
              </a:ext>
            </a:extLst>
          </p:cNvPr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1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F2C56EA-3B6A-5BB4-EEFA-5E9336841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705" y="2406185"/>
            <a:ext cx="6428589" cy="365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724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3F124-499F-049A-FF88-F98E955F4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12601-CE50-FA5D-1BFA-4455BE277B6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9187D-C37C-4E04-0242-532428EBB17C}"/>
              </a:ext>
            </a:extLst>
          </p:cNvPr>
          <p:cNvSpPr txBox="1"/>
          <p:nvPr/>
        </p:nvSpPr>
        <p:spPr>
          <a:xfrm>
            <a:off x="548640" y="502920"/>
            <a:ext cx="7315200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spc="200" dirty="0">
                <a:solidFill>
                  <a:srgbClr val="CC785C"/>
                </a:solidFill>
                <a:latin typeface="맑은 고딕"/>
                <a:ea typeface="맑은 고딕"/>
                <a:cs typeface="맑은 고딕"/>
              </a:rPr>
              <a:t>05  ·  Q&amp;A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CC9A9-9ECC-5787-1395-F6B41F50B40B}"/>
              </a:ext>
            </a:extLst>
          </p:cNvPr>
          <p:cNvSpPr txBox="1"/>
          <p:nvPr/>
        </p:nvSpPr>
        <p:spPr>
          <a:xfrm>
            <a:off x="548640" y="868680"/>
            <a:ext cx="11091672" cy="557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3600" b="1" i="0" dirty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Logic Operation Capability</a:t>
            </a:r>
            <a:endParaRPr sz="3600" b="1" i="0" dirty="0">
              <a:solidFill>
                <a:srgbClr val="14141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E3C6E8-A013-3FA3-3132-C773DD2719B5}"/>
              </a:ext>
            </a:extLst>
          </p:cNvPr>
          <p:cNvSpPr/>
          <p:nvPr/>
        </p:nvSpPr>
        <p:spPr>
          <a:xfrm>
            <a:off x="558704" y="2295077"/>
            <a:ext cx="11200537" cy="3931920"/>
          </a:xfrm>
          <a:prstGeom prst="roundRect">
            <a:avLst>
              <a:gd name="adj" fmla="val 4500"/>
            </a:avLst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E2D02F-B7F3-B9A1-043D-8E2D897F5BD4}"/>
              </a:ext>
            </a:extLst>
          </p:cNvPr>
          <p:cNvSpPr txBox="1"/>
          <p:nvPr/>
        </p:nvSpPr>
        <p:spPr>
          <a:xfrm>
            <a:off x="10607040" y="6446520"/>
            <a:ext cx="1097280" cy="149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0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 / 1</a:t>
            </a:r>
            <a:r>
              <a:rPr lang="en-US" sz="900" b="0" i="0" dirty="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 b="0" i="0" dirty="0">
              <a:solidFill>
                <a:srgbClr val="8E8B82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FB2754-2AD9-CDCD-453E-E24ECBD8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70" y="2695760"/>
            <a:ext cx="9091803" cy="313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9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638</Words>
  <Application>Microsoft Office PowerPoint</Application>
  <PresentationFormat>와이드스크린</PresentationFormat>
  <Paragraphs>181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Segoe UI Emoji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오민재</dc:creator>
  <cp:keywords/>
  <dc:description>generated using python-pptx</dc:description>
  <cp:lastModifiedBy>민재 오</cp:lastModifiedBy>
  <cp:revision>9</cp:revision>
  <dcterms:created xsi:type="dcterms:W3CDTF">2013-01-27T09:14:16Z</dcterms:created>
  <dcterms:modified xsi:type="dcterms:W3CDTF">2026-06-07T11:18:22Z</dcterms:modified>
  <cp:category/>
</cp:coreProperties>
</file>