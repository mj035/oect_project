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맑은 고딕"/>
              </a:rPr>
              <a:t>AI 활용 프로젝트 — 중간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6ECF1"/>
                </a:solidFill>
                <a:latin typeface="맑은 고딕"/>
              </a:rPr>
              <a:t>OECT 논문 검색 &amp; AI 연구 도우미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9CA3AF"/>
                </a:solidFill>
                <a:latin typeface="맑은 고딕"/>
              </a:rPr>
              <a:t>유기 전기화학 트랜지스터(OECT) 논문을</a:t>
            </a:r>
          </a:p>
          <a:p>
            <a:pPr algn="l"/>
            <a:r>
              <a:rPr sz="1800" b="0">
                <a:solidFill>
                  <a:srgbClr val="9CA3AF"/>
                </a:solidFill>
                <a:latin typeface="맑은 고딕"/>
              </a:rPr>
              <a:t>모션 인식과 AI로 탐색하고 분석하는 시스템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572000"/>
            <a:ext cx="10515600" cy="173736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97280" y="4709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맑은 고딕"/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663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6ECF1"/>
                </a:solidFill>
                <a:latin typeface="맑은 고딕"/>
              </a:rPr>
              <a:t>김동우  ( 학번:                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51663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6ECF1"/>
                </a:solidFill>
                <a:latin typeface="맑은 고딕"/>
              </a:rPr>
              <a:t>조혜원  ( 학번:                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66928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6ECF1"/>
                </a:solidFill>
                <a:latin typeface="맑은 고딕"/>
              </a:rPr>
              <a:t>손윤성  ( 학번:                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566928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6ECF1"/>
                </a:solidFill>
                <a:latin typeface="맑은 고딕"/>
              </a:rPr>
              <a:t>오민재  ( 학번:                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맑은 고딕"/>
              </a:rPr>
              <a:t>2026 학부 발표 · 제출일 ___ / 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맑은 고딕"/>
              </a:rPr>
              <a:t>02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맑은 고딕"/>
              </a:rPr>
              <a:t>01.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1"/>
                </a:solidFill>
                <a:latin typeface="맑은 고딕"/>
              </a:rPr>
              <a:t>프로젝트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1270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8288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6ECF1"/>
                </a:solidFill>
                <a:latin typeface="맑은 고딕"/>
              </a:rPr>
              <a:t>유기 전기화학 트랜지스터(OECT) 분야의 논문을</a:t>
            </a:r>
          </a:p>
          <a:p>
            <a:pPr algn="l"/>
            <a:r>
              <a:rPr sz="2200" b="0">
                <a:solidFill>
                  <a:srgbClr val="E6ECF1"/>
                </a:solidFill>
                <a:latin typeface="맑은 고딕"/>
              </a:rPr>
              <a:t>모션 인식으로 탐색하고, AI로 통합 분석하며,</a:t>
            </a:r>
          </a:p>
          <a:p>
            <a:pPr algn="l"/>
            <a:r>
              <a:rPr sz="2200" b="0">
                <a:solidFill>
                  <a:srgbClr val="E6ECF1"/>
                </a:solidFill>
                <a:latin typeface="맑은 고딕"/>
              </a:rPr>
              <a:t>회로까지 자동으로 시각화하는 웹 기반 연구 도우미.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447" y="411480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83767" y="42976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  <a:latin typeface="맑은 고딕"/>
              </a:rPr>
              <a:t>모션 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767" y="484632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CF1"/>
                </a:solidFill>
                <a:latin typeface="맑은 고딕"/>
              </a:rPr>
              <a:t>카메라 + 손 제스처로</a:t>
            </a:r>
          </a:p>
          <a:p>
            <a:pPr algn="l"/>
            <a:r>
              <a:rPr sz="1300" b="0">
                <a:solidFill>
                  <a:srgbClr val="E6ECF1"/>
                </a:solidFill>
                <a:latin typeface="맑은 고딕"/>
              </a:rPr>
              <a:t>원하는 장기/기능 선택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2767" y="411480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87087" y="42976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60A5FA"/>
                </a:solidFill>
                <a:latin typeface="맑은 고딕"/>
              </a:rPr>
              <a:t>AI 통합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7087" y="484632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CF1"/>
                </a:solidFill>
                <a:latin typeface="맑은 고딕"/>
              </a:rPr>
              <a:t>논문 PDF에서 6개 항목을</a:t>
            </a:r>
          </a:p>
          <a:p>
            <a:pPr algn="l"/>
            <a:r>
              <a:rPr sz="1300" b="0">
                <a:solidFill>
                  <a:srgbClr val="E6ECF1"/>
                </a:solidFill>
                <a:latin typeface="맑은 고딕"/>
              </a:rPr>
              <a:t>구조화된 형태로 추출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6087" y="411480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90407" y="42976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맑은 고딕"/>
              </a:rPr>
              <a:t>회로 시각화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407" y="484632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CF1"/>
                </a:solidFill>
                <a:latin typeface="맑은 고딕"/>
              </a:rPr>
              <a:t>논문에서 회로 추출 + AI가</a:t>
            </a:r>
          </a:p>
          <a:p>
            <a:pPr algn="l"/>
            <a:r>
              <a:rPr sz="1300" b="0">
                <a:solidFill>
                  <a:srgbClr val="E6ECF1"/>
                </a:solidFill>
                <a:latin typeface="맑은 고딕"/>
              </a:rPr>
              <a:t>부족한 부분 자동 보완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맑은 고딕"/>
              </a:rPr>
              <a:t>03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맑은 고딕"/>
              </a:rPr>
              <a:t>02.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1"/>
                </a:solidFill>
                <a:latin typeface="맑은 고딕"/>
              </a:rPr>
              <a:t>왜 이 프로젝트인가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1270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맑은 고딕"/>
              </a:rPr>
              <a:t>ChatGPT만으로는 안 되는가?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6ECF1"/>
                </a:solidFill>
                <a:latin typeface="맑은 고딕"/>
              </a:rPr>
              <a:t>• 단순 “논문 요약” 수준이면 ChatGPT 한 번 호출로 끝난다</a:t>
            </a:r>
          </a:p>
          <a:p>
            <a:pPr algn="l"/>
            <a:r>
              <a:rPr sz="1500" b="0">
                <a:solidFill>
                  <a:srgbClr val="E6ECF1"/>
                </a:solidFill>
                <a:latin typeface="맑은 고딕"/>
              </a:rPr>
              <a:t>• 그러나 “OECT 분야 특화 + 실제 연구 워크플로우 통합”은 다르다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23360"/>
            <a:ext cx="5394960" cy="96012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A5FA"/>
                </a:solidFill>
                <a:latin typeface="맑은 고딕"/>
              </a:rPr>
              <a:t>도메인 특화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CF1"/>
                </a:solidFill>
                <a:latin typeface="맑은 고딕"/>
              </a:rPr>
              <a:t>OECT 6필드 구조화 분석 — 일반 LLM은 못 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394960" cy="96012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4114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A5FA"/>
                </a:solidFill>
                <a:latin typeface="맑은 고딕"/>
              </a:rPr>
              <a:t>멀티모달 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5262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CF1"/>
                </a:solidFill>
                <a:latin typeface="맑은 고딕"/>
              </a:rPr>
              <a:t>모션 인식으로 카테고리 진입 — 발표 임팩트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120640"/>
            <a:ext cx="5394960" cy="96012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5212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A5FA"/>
                </a:solidFill>
                <a:latin typeface="맑은 고딕"/>
              </a:rPr>
              <a:t>회로 자동 추출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23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CF1"/>
                </a:solidFill>
                <a:latin typeface="맑은 고딕"/>
              </a:rPr>
              <a:t>논문 figure 인식 + 부족하면 AI 자동 생성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120640"/>
            <a:ext cx="5394960" cy="96012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46520" y="5212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A5FA"/>
                </a:solidFill>
                <a:latin typeface="맑은 고딕"/>
              </a:rPr>
              <a:t>정직한 신뢰도 표시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623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CF1"/>
                </a:solidFill>
                <a:latin typeface="맑은 고딕"/>
              </a:rPr>
              <a:t>AI 결과의 출처/신뢰도를 사용자에게 노출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맑은 고딕"/>
              </a:rPr>
              <a:t>04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맑은 고딕"/>
              </a:rPr>
              <a:t>03.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1"/>
                </a:solidFill>
                <a:latin typeface="맑은 고딕"/>
              </a:rPr>
              <a:t>시스템 한눈에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1270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88047" y="2377440"/>
            <a:ext cx="2003120" cy="1828800"/>
          </a:xfrm>
          <a:prstGeom prst="roundRect">
            <a:avLst>
              <a:gd name="adj" fmla="val 10000"/>
            </a:avLst>
          </a:prstGeom>
          <a:solidFill>
            <a:srgbClr val="1A212E"/>
          </a:solidFill>
          <a:ln w="254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8047" y="2560320"/>
            <a:ext cx="20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9CA3AF"/>
                </a:solidFill>
                <a:latin typeface="맑은 고딕"/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047" y="3108960"/>
            <a:ext cx="20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6ECF1"/>
                </a:solidFill>
                <a:latin typeface="맑은 고딕"/>
              </a:rPr>
              <a:t>카메라 +</a:t>
            </a:r>
          </a:p>
          <a:p>
            <a:pPr algn="ctr"/>
            <a:r>
              <a:rPr sz="1200" b="0">
                <a:solidFill>
                  <a:srgbClr val="E6ECF1"/>
                </a:solidFill>
                <a:latin typeface="맑은 고딕"/>
              </a:rPr>
              <a:t>제스처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81167" y="3154680"/>
            <a:ext cx="120000" cy="27432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91167" y="2377440"/>
            <a:ext cx="2003120" cy="1828800"/>
          </a:xfrm>
          <a:prstGeom prst="roundRect">
            <a:avLst>
              <a:gd name="adj" fmla="val 10000"/>
            </a:avLst>
          </a:prstGeom>
          <a:solidFill>
            <a:srgbClr val="1A212E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991167" y="2560320"/>
            <a:ext cx="20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4D399"/>
                </a:solidFill>
                <a:latin typeface="맑은 고딕"/>
              </a:rPr>
              <a:t>MOTION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1167" y="3108960"/>
            <a:ext cx="20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6ECF1"/>
                </a:solidFill>
                <a:latin typeface="맑은 고딕"/>
              </a:rPr>
              <a:t>MediaPipe</a:t>
            </a:r>
          </a:p>
          <a:p>
            <a:pPr algn="ctr"/>
            <a:r>
              <a:rPr sz="1200" b="0">
                <a:solidFill>
                  <a:srgbClr val="E6ECF1"/>
                </a:solidFill>
                <a:latin typeface="맑은 고딕"/>
              </a:rPr>
              <a:t>Holistic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84287" y="3154680"/>
            <a:ext cx="120000" cy="27432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94287" y="2377440"/>
            <a:ext cx="2003120" cy="1828800"/>
          </a:xfrm>
          <a:prstGeom prst="roundRect">
            <a:avLst>
              <a:gd name="adj" fmla="val 10000"/>
            </a:avLst>
          </a:prstGeom>
          <a:solidFill>
            <a:srgbClr val="1A212E"/>
          </a:solidFill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094287" y="2560320"/>
            <a:ext cx="20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60A5FA"/>
                </a:solidFill>
                <a:latin typeface="맑은 고딕"/>
              </a:rPr>
              <a:t>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4287" y="3108960"/>
            <a:ext cx="20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6ECF1"/>
                </a:solidFill>
                <a:latin typeface="맑은 고딕"/>
              </a:rPr>
              <a:t>OpenAlex</a:t>
            </a:r>
          </a:p>
          <a:p>
            <a:pPr algn="ctr"/>
            <a:r>
              <a:rPr sz="1200" b="0">
                <a:solidFill>
                  <a:srgbClr val="E6ECF1"/>
                </a:solidFill>
                <a:latin typeface="맑은 고딕"/>
              </a:rPr>
              <a:t>논문 API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87407" y="3154680"/>
            <a:ext cx="120000" cy="27432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97407" y="2377440"/>
            <a:ext cx="2003120" cy="1828800"/>
          </a:xfrm>
          <a:prstGeom prst="roundRect">
            <a:avLst>
              <a:gd name="adj" fmla="val 10000"/>
            </a:avLst>
          </a:prstGeom>
          <a:solidFill>
            <a:srgbClr val="1A212E"/>
          </a:solidFill>
          <a:ln w="254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197407" y="2560320"/>
            <a:ext cx="20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BBF24"/>
                </a:solidFill>
                <a:latin typeface="맑은 고딕"/>
              </a:rPr>
              <a:t>AI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7407" y="3108960"/>
            <a:ext cx="20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6ECF1"/>
                </a:solidFill>
                <a:latin typeface="맑은 고딕"/>
              </a:rPr>
              <a:t>Gemini API</a:t>
            </a:r>
          </a:p>
          <a:p>
            <a:pPr algn="ctr"/>
            <a:r>
              <a:rPr sz="1200" b="0">
                <a:solidFill>
                  <a:srgbClr val="E6ECF1"/>
                </a:solidFill>
                <a:latin typeface="맑은 고딕"/>
              </a:rPr>
              <a:t>6필드 분석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190527" y="3154680"/>
            <a:ext cx="120000" cy="27432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00527" y="2377440"/>
            <a:ext cx="2003120" cy="1828800"/>
          </a:xfrm>
          <a:prstGeom prst="roundRect">
            <a:avLst>
              <a:gd name="adj" fmla="val 10000"/>
            </a:avLst>
          </a:prstGeom>
          <a:solidFill>
            <a:srgbClr val="1A212E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00527" y="2560320"/>
            <a:ext cx="20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87171"/>
                </a:solidFill>
                <a:latin typeface="맑은 고딕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0527" y="3108960"/>
            <a:ext cx="20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6ECF1"/>
                </a:solidFill>
                <a:latin typeface="맑은 고딕"/>
              </a:rPr>
              <a:t>회로 / 재료 /</a:t>
            </a:r>
          </a:p>
          <a:p>
            <a:pPr algn="ctr"/>
            <a:r>
              <a:rPr sz="1200" b="0">
                <a:solidFill>
                  <a:srgbClr val="E6ECF1"/>
                </a:solidFill>
                <a:latin typeface="맑은 고딕"/>
              </a:rPr>
              <a:t>공정 / 응용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맑은 고딕"/>
              </a:rPr>
              <a:t>└ 기술 스택 :  Flask · Python 3.12 · PyMuPDF · schemdraw · MediaPipe · Gemini · OpenAlex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맑은 고딕"/>
              </a:rPr>
              <a:t>└ 협업 환경 :  Claude Code (코드 어시스트) · Git · VS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맑은 고딕"/>
              </a:rPr>
              <a:t>05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맑은 고딕"/>
              </a:rPr>
              <a:t>04. TECHNOLOGY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1"/>
                </a:solidFill>
                <a:latin typeface="맑은 고딕"/>
              </a:rPr>
              <a:t>모션 인식 — 카메라로 장기 선택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1270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8288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  <a:latin typeface="맑은 고딕"/>
              </a:rPr>
              <a:t>MediaPipe Holistic + 제스처 매칭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ECF1"/>
                </a:solidFill>
                <a:latin typeface="맑은 고딕"/>
              </a:rPr>
              <a:t>•  손 → 머리 위   →   뇌 (Brain)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5292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ECF1"/>
                </a:solidFill>
                <a:latin typeface="맑은 고딕"/>
              </a:rPr>
              <a:t>•  손 → 가슴   →   심장 (Cardiac)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3697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ECF1"/>
                </a:solidFill>
                <a:latin typeface="맑은 고딕"/>
              </a:rPr>
              <a:t>•  손 → 배   →   간 (Liver)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2102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ECF1"/>
                </a:solidFill>
                <a:latin typeface="맑은 고딕"/>
              </a:rPr>
              <a:t>•  V사인 + 얼굴 옆   →   눈 (Eye)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0507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ECF1"/>
                </a:solidFill>
                <a:latin typeface="맑은 고딕"/>
              </a:rPr>
              <a:t>•  양손 주먹   →   근육 (Muscle)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ECF1"/>
                </a:solidFill>
                <a:latin typeface="맑은 고딕"/>
              </a:rPr>
              <a:t>•  양손 손바닥 펼침   →   피부 (Skin)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BBF24"/>
                </a:solidFill>
                <a:latin typeface="맑은 고딕"/>
              </a:rPr>
              <a:t>1.5초 유지 시 자동 페이지 이동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828800"/>
            <a:ext cx="4297680" cy="4114800"/>
          </a:xfrm>
          <a:prstGeom prst="rect">
            <a:avLst/>
          </a:prstGeom>
          <a:solidFill>
            <a:srgbClr val="1A212E"/>
          </a:solidFill>
          <a:ln w="12700">
            <a:solidFill>
              <a:srgbClr val="9CA3A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/>
          <a:lstStyle/>
          <a:p>
            <a:pPr algn="ctr"/>
            <a:r>
              <a:rPr sz="1400">
                <a:solidFill>
                  <a:srgbClr val="9CA3AF"/>
                </a:solidFill>
                <a:latin typeface="맑은 고딕"/>
              </a:rPr>
              <a:t>🖼  메인 화면 (모션 인식) 캡처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맑은 고딕"/>
              </a:rPr>
              <a:t>06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맑은 고딕"/>
              </a:rPr>
              <a:t>04. TECHNOLOGY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1"/>
                </a:solidFill>
                <a:latin typeface="맑은 고딕"/>
              </a:rPr>
              <a:t>AI 분석 — 6개 항목 구조화 추출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1270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8288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맑은 고딕"/>
              </a:rPr>
              <a:t>Gemini API (gemini-2.5-flash) + PDF 첨부 분석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3566160" cy="91440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맑은 고딕"/>
              </a:rPr>
              <a:t>재료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사용된 모든 폴리머/기판/용매 추출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468880"/>
            <a:ext cx="3566160" cy="91440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0" y="254203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맑은 고딕"/>
              </a:rPr>
              <a:t>디바이스 구조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레이어 구성, 채널 지오메트리, 전극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47872"/>
            <a:ext cx="3566160" cy="91440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362102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맑은 고딕"/>
              </a:rPr>
              <a:t>동작 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0507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센싱/동작 메커니즘 (이온 결합 등)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547872"/>
            <a:ext cx="3566160" cy="91440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0" y="362102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맑은 고딕"/>
              </a:rPr>
              <a:t>공정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00507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제작 단계 순서대로 정리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26864"/>
            <a:ext cx="3566160" cy="91440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470001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맑은 고딕"/>
              </a:rPr>
              <a:t>응용/타겟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84064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타겟 분석물 + 성능 지표 (검출한계 등)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626864"/>
            <a:ext cx="3566160" cy="91440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72000" y="470001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맑은 고딕"/>
              </a:rPr>
              <a:t>회로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084064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별도 추출 — 다음 슬라이드에서 자세히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468880"/>
            <a:ext cx="3383280" cy="3657600"/>
          </a:xfrm>
          <a:prstGeom prst="rect">
            <a:avLst/>
          </a:prstGeom>
          <a:solidFill>
            <a:srgbClr val="1A212E"/>
          </a:solidFill>
          <a:ln w="12700">
            <a:solidFill>
              <a:srgbClr val="9CA3A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/>
          <a:lstStyle/>
          <a:p>
            <a:pPr algn="ctr"/>
            <a:r>
              <a:rPr sz="1400">
                <a:solidFill>
                  <a:srgbClr val="9CA3AF"/>
                </a:solidFill>
                <a:latin typeface="맑은 고딕"/>
              </a:rPr>
              <a:t>🖼  분석 결과 6탭 화면 캡처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맑은 고딕"/>
              </a:rPr>
              <a:t>07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맑은 고딕"/>
              </a:rPr>
              <a:t>04. TECHNOLOGY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1"/>
                </a:solidFill>
                <a:latin typeface="맑은 고딕"/>
              </a:rPr>
              <a:t>회로 추출 — 3계층 폴백 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1270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286000"/>
            <a:ext cx="3657600" cy="237744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  <a:latin typeface="맑은 고딕"/>
              </a:rPr>
              <a:t>1순위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ECF1"/>
                </a:solidFill>
                <a:latin typeface="맑은 고딕"/>
              </a:rPr>
              <a:t>raster 임베디드 이미지</a:t>
            </a:r>
          </a:p>
          <a:p>
            <a:pPr algn="l"/>
            <a:r>
              <a:rPr sz="1400" b="0">
                <a:solidFill>
                  <a:srgbClr val="E6ECF1"/>
                </a:solidFill>
                <a:latin typeface="맑은 고딕"/>
              </a:rPr>
              <a:t>(PNG/JPEG로 박힌 회로)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맑은 고딕"/>
              </a:rPr>
              <a:t>⚙  PyMuPDF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317680" y="3291840"/>
            <a:ext cx="160000" cy="36576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2286000"/>
            <a:ext cx="3657600" cy="237744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54880" y="24231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60A5FA"/>
                </a:solidFill>
                <a:latin typeface="맑은 고딕"/>
              </a:rPr>
              <a:t>2순위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06324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ECF1"/>
                </a:solidFill>
                <a:latin typeface="맑은 고딕"/>
              </a:rPr>
              <a:t>vector 회로 영역 추출</a:t>
            </a:r>
          </a:p>
          <a:p>
            <a:pPr algn="l"/>
            <a:r>
              <a:rPr sz="1400" b="0">
                <a:solidFill>
                  <a:srgbClr val="E6ECF1"/>
                </a:solidFill>
                <a:latin typeface="맑은 고딕"/>
              </a:rPr>
              <a:t>(페이지 렌더 + Gemini ROI)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114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맑은 고딕"/>
              </a:rPr>
              <a:t>⚙  PyMuPDF + Gemini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158160" y="3291840"/>
            <a:ext cx="160000" cy="36576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2286000"/>
            <a:ext cx="3657600" cy="237744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595360" y="24231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맑은 고딕"/>
              </a:rPr>
              <a:t>3순위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06324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ECF1"/>
                </a:solidFill>
                <a:latin typeface="맑은 고딕"/>
              </a:rPr>
              <a:t>텍스트 기반 자동 생성</a:t>
            </a:r>
          </a:p>
          <a:p>
            <a:pPr algn="l"/>
            <a:r>
              <a:rPr sz="1400" b="0">
                <a:solidFill>
                  <a:srgbClr val="E6ECF1"/>
                </a:solidFill>
                <a:latin typeface="맑은 고딕"/>
              </a:rPr>
              <a:t>(schemdraw 템플릿)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114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맑은 고딕"/>
              </a:rPr>
              <a:t>⚙  Gemini + schemdraw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029200"/>
            <a:ext cx="5303520" cy="1554480"/>
          </a:xfrm>
          <a:prstGeom prst="rect">
            <a:avLst/>
          </a:prstGeom>
          <a:solidFill>
            <a:srgbClr val="1A212E"/>
          </a:solidFill>
          <a:ln w="12700">
            <a:solidFill>
              <a:srgbClr val="9CA3A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/>
          <a:lstStyle/>
          <a:p>
            <a:pPr algn="ctr"/>
            <a:r>
              <a:rPr sz="1400">
                <a:solidFill>
                  <a:srgbClr val="9CA3AF"/>
                </a:solidFill>
                <a:latin typeface="맑은 고딕"/>
              </a:rPr>
              <a:t>🖼  회로 탭 — raster / 벡터 추출 / AI 생성 비교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5029200"/>
            <a:ext cx="5486400" cy="1554480"/>
          </a:xfrm>
          <a:prstGeom prst="rect">
            <a:avLst/>
          </a:prstGeom>
          <a:solidFill>
            <a:srgbClr val="1A212E"/>
          </a:solidFill>
          <a:ln w="12700">
            <a:solidFill>
              <a:srgbClr val="9CA3A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/>
          <a:lstStyle/>
          <a:p>
            <a:pPr algn="ctr"/>
            <a:r>
              <a:rPr sz="1400">
                <a:solidFill>
                  <a:srgbClr val="9CA3AF"/>
                </a:solidFill>
                <a:latin typeface="맑은 고딕"/>
              </a:rPr>
              <a:t>🖼  AI 생성 회로 + 신뢰도 게이지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맑은 고딕"/>
              </a:rPr>
              <a:t>08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맑은 고딕"/>
              </a:rPr>
              <a:t>04. TECHNOLOGY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1"/>
                </a:solidFill>
                <a:latin typeface="맑은 고딕"/>
              </a:rPr>
              <a:t>개발 환경과 협업 도구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1270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920240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9933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맑은 고딕"/>
              </a:rPr>
              <a:t>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AI 코드 어시스트 — 빠른 프로토타이핑 / 디버깅 / 리팩토링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920240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09360" y="19933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맑은 고딕"/>
              </a:rPr>
              <a:t>Gemini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774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PDF·이미지 멀티모달 분석 + 카테고리 분류 + 회로 토폴로지 추출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53512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30266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맑은 고딕"/>
              </a:rPr>
              <a:t>OpenAlex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1071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OECT 분야 논문 메타데이터 + OA PDF 검색 (무료, API 키 불필요)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953512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09360" y="30266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맑은 고딕"/>
              </a:rPr>
              <a:t>MediaPipe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41071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브라우저 카메라로 손/얼굴 랜드마크 실시간 검출 (CDN 클라이언트)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86783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" y="4059935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맑은 고딕"/>
              </a:rPr>
              <a:t>PyMuPDF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43983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PDF 텍스트/이미지 추출 + 페이지 렌더링 (벡터 회로 폴백)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986783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09360" y="4059935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맑은 고딕"/>
              </a:rPr>
              <a:t>schemdraw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443983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Python에서 회로도 자동 생성 — OECT 전용 심볼 직접 정의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020056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2960" y="50932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맑은 고딕"/>
              </a:rPr>
              <a:t>Flask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47725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Python 백엔드 웹 프레임워크 — REST API 엔드포인트 7개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5020056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09360" y="50932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맑은 고딕"/>
              </a:rPr>
              <a:t>Git + VSCode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47725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팀 협업 + 코드 관리 + 통합 개발 환경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맑은 고딕"/>
              </a:rPr>
              <a:t>09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맑은 고딕"/>
              </a:rPr>
              <a:t>05. CHALLENGE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1"/>
                </a:solidFill>
                <a:latin typeface="맑은 고딕"/>
              </a:rPr>
              <a:t>회로를 어떻게 보여줄까?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1270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828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87171"/>
                </a:solidFill>
                <a:latin typeface="맑은 고딕"/>
              </a:rPr>
              <a:t>처음 시도 — 실패한 접근들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  <a:latin typeface="맑은 고딕"/>
              </a:rPr>
              <a:t>× LLM이 schemdraw 코드 직접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맑은 고딕"/>
              </a:rPr>
              <a:t>→ 매번 깨진 회로, topology 커버리지 부족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  <a:latin typeface="맑은 고딕"/>
              </a:rPr>
              <a:t>× LLM이 SVG 직접 그리기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맑은 고딕"/>
              </a:rPr>
              <a:t>→ 좌표가 어긋나고 라벨 충돌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7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  <a:latin typeface="맑은 고딕"/>
              </a:rPr>
              <a:t>× 텍스트 기반 mermaid 다이어그램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맑은 고딕"/>
              </a:rPr>
              <a:t>→ 회로 기호(트랜지스터 등) 표현 불가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34924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맑은 고딕"/>
              </a:rPr>
              <a:t>💡  결국 깨달음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521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CF1"/>
                </a:solidFill>
                <a:latin typeface="맑은 고딕"/>
              </a:rPr>
              <a:t>AI에게 회로를 "창작"하게 시키지 말자.</a:t>
            </a:r>
          </a:p>
          <a:p>
            <a:pPr algn="l"/>
            <a:r>
              <a:rPr sz="1300" b="0">
                <a:solidFill>
                  <a:srgbClr val="E6ECF1"/>
                </a:solidFill>
                <a:latin typeface="맑은 고딕"/>
              </a:rPr>
              <a:t>AI는 분류·추출에 능하고, 그림은 우리가 만든 템플릿이 그리게 하자.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맑은 고딕"/>
              </a:rPr>
              <a:t>10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맑은 고딕"/>
              </a:rPr>
              <a:t>05. CHALLENGE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1"/>
                </a:solidFill>
                <a:latin typeface="맑은 고딕"/>
              </a:rPr>
              <a:t>외부 의존성의 한계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1270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828800"/>
            <a:ext cx="5486400" cy="438912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  <a:latin typeface="맑은 고딕"/>
              </a:rPr>
              <a:t>출판사 PDF 자동 다운로드 차단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CF1"/>
                </a:solidFill>
                <a:latin typeface="맑은 고딕"/>
              </a:rPr>
              <a:t>• Wiley / Elsevier / ACS 등은 봇 방지 차단</a:t>
            </a:r>
          </a:p>
          <a:p>
            <a:pPr algn="l"/>
            <a:r>
              <a:rPr sz="1200" b="0">
                <a:solidFill>
                  <a:srgbClr val="E6ECF1"/>
                </a:solidFill>
                <a:latin typeface="맑은 고딕"/>
              </a:rPr>
              <a:t>• User-Agent 위장으로도 우회 어려움</a:t>
            </a:r>
          </a:p>
          <a:p>
            <a:pPr algn="l"/>
            <a:r>
              <a:rPr sz="1200" b="0">
                <a:solidFill>
                  <a:srgbClr val="E6ECF1"/>
                </a:solidFill>
                <a:latin typeface="맑은 고딕"/>
              </a:rPr>
              <a:t>• 자동화의 가장 큰 현실적 장벽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맑은 고딕"/>
              </a:rPr>
              <a:t>📌 임시 해결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0916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사용자가 PDF를 직접 다운로드 후 업로드 →</a:t>
            </a:r>
          </a:p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/api/analyze-upload 엔드포인트로 처리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828800"/>
            <a:ext cx="5486400" cy="438912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29400" y="20116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  <a:latin typeface="맑은 고딕"/>
              </a:rPr>
              <a:t>Gemini API 무료 티어 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606040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CF1"/>
                </a:solidFill>
                <a:latin typeface="맑은 고딕"/>
              </a:rPr>
              <a:t>• 분당 10회 / 일일 250회 한도</a:t>
            </a:r>
          </a:p>
          <a:p>
            <a:pPr algn="l"/>
            <a:r>
              <a:rPr sz="1200" b="0">
                <a:solidFill>
                  <a:srgbClr val="E6ECF1"/>
                </a:solidFill>
                <a:latin typeface="맑은 고딕"/>
              </a:rPr>
              <a:t>• 논문 1편 분석 = 5~6회 호출</a:t>
            </a:r>
          </a:p>
          <a:p>
            <a:pPr algn="l"/>
            <a:r>
              <a:rPr sz="1200" b="0">
                <a:solidFill>
                  <a:srgbClr val="E6ECF1"/>
                </a:solidFill>
                <a:latin typeface="맑은 고딕"/>
              </a:rPr>
              <a:t>• 발표 시연 도중 막히면 데모 사고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297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맑은 고딕"/>
              </a:rPr>
              <a:t>📌 임시 해결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70916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여러 Gemini 모델 자동 폴백 +</a:t>
            </a:r>
          </a:p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재시도 백오프(3 → 6 → 10 → 15초)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맑은 고딕"/>
              </a:rPr>
              <a:t>11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맑은 고딕"/>
              </a:rPr>
              <a:t>06. SOLUTION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1"/>
                </a:solidFill>
                <a:latin typeface="맑은 고딕"/>
              </a:rPr>
              <a:t>3계층 회로 폴백 — 빈 결과 0%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1270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  <a:latin typeface="맑은 고딕"/>
              </a:rPr>
              <a:t>어떤 논문이든 회로 1장은 무조건 표시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9CA3AF"/>
                </a:solidFill>
                <a:latin typeface="맑은 고딕"/>
              </a:rPr>
              <a:t>▶  PDF 입력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83280"/>
            <a:ext cx="6766560" cy="640080"/>
          </a:xfrm>
          <a:prstGeom prst="roundRect">
            <a:avLst>
              <a:gd name="adj" fmla="val 30000"/>
            </a:avLst>
          </a:prstGeom>
          <a:solidFill>
            <a:srgbClr val="1A212E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35204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맑은 고딕"/>
              </a:rPr>
              <a:t>1순위 │ raster 회로 추출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5661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→ 있으면 즉시 표시 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97680"/>
            <a:ext cx="6766560" cy="640080"/>
          </a:xfrm>
          <a:prstGeom prst="roundRect">
            <a:avLst>
              <a:gd name="adj" fmla="val 30000"/>
            </a:avLst>
          </a:prstGeom>
          <a:solidFill>
            <a:srgbClr val="1A212E"/>
          </a:solidFill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맑은 고딕"/>
              </a:rPr>
              <a:t>2순위 │ vector 영역 검출 + 크롭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4805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→ 페이지 렌더 후 Gemini가 좌표 추출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212080"/>
            <a:ext cx="6766560" cy="640080"/>
          </a:xfrm>
          <a:prstGeom prst="roundRect">
            <a:avLst>
              <a:gd name="adj" fmla="val 30000"/>
            </a:avLst>
          </a:prstGeom>
          <a:solidFill>
            <a:srgbClr val="1A212E"/>
          </a:solidFill>
          <a:ln w="254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05840" y="5349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맑은 고딕"/>
              </a:rPr>
              <a:t>3순위 │ 텍스트 → AI 토폴로지 분류 → 템플릿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3949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→ 어떤 논문이든 1장 보장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맑은 고딕"/>
              </a:rPr>
              <a:t>│  각 회로마다 출처 메타 데이터 부착  →  사용자가 “원본 vs AI 생성”을 한눈에 구분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맑은 고딕"/>
              </a:rPr>
              <a:t>12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맑은 고딕"/>
              </a:rPr>
              <a:t>06. SOLUTION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1"/>
                </a:solidFill>
                <a:latin typeface="맑은 고딕"/>
              </a:rPr>
              <a:t>정직한 표시 + 발표 안정성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1270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60A5FA"/>
                </a:solidFill>
                <a:latin typeface="맑은 고딕"/>
              </a:rPr>
              <a:t>AI 결과의 "신뢰도"를 사용자에게 노출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6400800" cy="228600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맑은 고딕"/>
              </a:rPr>
              <a:t>회로 출처 뱃지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1546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242C3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1100" b="1">
                <a:solidFill>
                  <a:srgbClr val="34D399"/>
                </a:solidFill>
                <a:latin typeface="맑은 고딕"/>
              </a:rPr>
              <a:t>논문 원본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31546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242C3A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1100" b="1">
                <a:solidFill>
                  <a:srgbClr val="60A5FA"/>
                </a:solidFill>
                <a:latin typeface="맑은 고딕"/>
              </a:rPr>
              <a:t>벡터 추출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31546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242C3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1100" b="1">
                <a:solidFill>
                  <a:srgbClr val="FBBF24"/>
                </a:solidFill>
                <a:latin typeface="맑은 고딕"/>
              </a:rPr>
              <a:t>AI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03320"/>
            <a:ext cx="6035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CF1"/>
                </a:solidFill>
                <a:latin typeface="맑은 고딕"/>
              </a:rPr>
              <a:t>+ AI 생성 회로엔 신뢰도 게이지 바</a:t>
            </a:r>
          </a:p>
          <a:p>
            <a:pPr algn="l"/>
            <a:r>
              <a:rPr sz="1200" b="0">
                <a:solidFill>
                  <a:srgbClr val="E6ECF1"/>
                </a:solidFill>
                <a:latin typeface="맑은 고딕"/>
              </a:rPr>
              <a:t>+ 캡션에 토폴로지 + 신뢰도 명시</a:t>
            </a:r>
          </a:p>
          <a:p>
            <a:pPr algn="l"/>
            <a:r>
              <a:rPr sz="1200" b="0">
                <a:solidFill>
                  <a:srgbClr val="E6ECF1"/>
                </a:solidFill>
                <a:latin typeface="맑은 고딕"/>
              </a:rPr>
              <a:t>+ 도메인 룰로 confidence 후처리 보정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468880"/>
            <a:ext cx="4297680" cy="228600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543800" y="26060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맑은 고딕"/>
              </a:rPr>
              <a:t>분석 결과 캐싱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3154680"/>
            <a:ext cx="4114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• PDF SHA-256으로 캐시 키</a:t>
            </a:r>
          </a:p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• 같은 논문 두 번째부터 즉시 응답</a:t>
            </a:r>
          </a:p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• 발표용 논문 사전 캐싱 →</a:t>
            </a:r>
          </a:p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   본 발표 도중 quota 사고 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029200"/>
            <a:ext cx="10972800" cy="1554480"/>
          </a:xfrm>
          <a:prstGeom prst="rect">
            <a:avLst/>
          </a:prstGeom>
          <a:solidFill>
            <a:srgbClr val="1A212E"/>
          </a:solidFill>
          <a:ln w="12700">
            <a:solidFill>
              <a:srgbClr val="9CA3A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/>
          <a:lstStyle/>
          <a:p>
            <a:pPr algn="ctr"/>
            <a:r>
              <a:rPr sz="1400">
                <a:solidFill>
                  <a:srgbClr val="9CA3AF"/>
                </a:solidFill>
                <a:latin typeface="맑은 고딕"/>
              </a:rPr>
              <a:t>🖼  회로 카드 — 뱃지 + 신뢰도 게이지 UI 캡처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맑은 고딕"/>
              </a:rPr>
              <a:t>13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맑은 고딕"/>
              </a:rPr>
              <a:t>07.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1"/>
                </a:solidFill>
                <a:latin typeface="맑은 고딕"/>
              </a:rPr>
              <a:t>최종본까지의 계획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1270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920240"/>
            <a:ext cx="10972800" cy="96012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맑은 고딕"/>
              </a:rPr>
              <a:t>Phase 1 │ 분석 정밀도 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재료 8카테고리 분할 (substrate · source · drain · channel · gate · electrolyte · interconnect · encapsulation) 도입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99232"/>
            <a:ext cx="10972800" cy="96012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309067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맑은 고딕"/>
              </a:rPr>
              <a:t>Phase 2 │ 검색 품질 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0215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OpenAlex 다중 OA 미러 자동 시도 + stretchable / hydrogel / ionic gel 키워드 보강 → 차단률 50% 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78224"/>
            <a:ext cx="10972800" cy="96012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4169664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맑은 고딕"/>
              </a:rPr>
              <a:t>Phase 3 │ 통합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8114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선택된 N편 논문을 합쳐 "공통 재료 / 공통 공정 / 트렌드" 통합 보고서 생성 (ChatGPT로 못 하는 차별화)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157216"/>
            <a:ext cx="10972800" cy="96012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8680" y="5248656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  <a:latin typeface="맑은 고딕"/>
              </a:rPr>
              <a:t>Phase 4 │ 발표 안정화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66013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시연용 5~10편 사전 캐시 + 데모 모드 + 백업 API 키 — 본 발표 사고 0% 보장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맑은 고딕"/>
              </a:rPr>
              <a:t>14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맑은 고딕"/>
              </a:rPr>
              <a:t>08.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1"/>
                </a:solidFill>
                <a:latin typeface="맑은 고딕"/>
              </a:rPr>
              <a:t>이 프로젝트의 확장 방향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1270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60A5FA"/>
                </a:solidFill>
                <a:latin typeface="맑은 고딕"/>
              </a:rPr>
              <a:t>OECT를 넘어선 일반화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10972800" cy="68580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맑은 고딕"/>
              </a:rPr>
              <a:t>타 분야 적용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4688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이차전지 / 광촉매 / 페로브스카이트 등 다른 재료공학 분야로 도메인 룰만 교체하면 즉시 확장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10972800" cy="68580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맑은 고딕"/>
              </a:rPr>
              <a:t>학술 연구 도우미 일반화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24612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검색 → 분석 → 시각화의 워크플로우는 분야 무관하게 적용 가능. 학부생 연구실 입문 도구로 발전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7639"/>
            <a:ext cx="10972800" cy="68580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68680" y="4023359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맑은 고딕"/>
              </a:rPr>
              <a:t>음성 + 모션 멀티모달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023359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한국어 음성 입력으로 행동 선택 + 모션으로 카테고리 → 키보드 없는 연구 인터페이스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54879"/>
            <a:ext cx="10972800" cy="68580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4800599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맑은 고딕"/>
              </a:rPr>
              <a:t>논문 비교 리포트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800599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여러 논문을 자동 비교 표로 정리 + 1차 / 2차 실험 추천 조합 제시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10972800" cy="68580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68680" y="55778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맑은 고딕"/>
              </a:rPr>
              <a:t>실험 노트 연동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557784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6ECF1"/>
                </a:solidFill>
                <a:latin typeface="맑은 고딕"/>
              </a:rPr>
              <a:t>분석 결과를 학생 실험 노트(Notion / Markdown)로 자동 export + 인용 정리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맑은 고딕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E6ECF1"/>
                </a:solidFill>
                <a:latin typeface="맑은 고딕"/>
              </a:rPr>
              <a:t>AI를 잘 쓴다는 건,</a:t>
            </a:r>
          </a:p>
          <a:p>
            <a:pPr algn="l"/>
            <a:r>
              <a:rPr sz="4200" b="1">
                <a:solidFill>
                  <a:srgbClr val="E6ECF1"/>
                </a:solidFill>
                <a:latin typeface="맑은 고딕"/>
              </a:rPr>
              <a:t>AI의 한계를 잘 안다는 것이다.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BBF24"/>
                </a:solidFill>
                <a:latin typeface="맑은 고딕"/>
              </a:rPr>
              <a:t>"잘하는 일을 시키고, 못하는 건 우리가 채운다"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맑은 고딕"/>
              </a:rPr>
              <a:t>이 프로젝트는 AI에 모든 것을 맡기지 않고,</a:t>
            </a:r>
          </a:p>
          <a:p>
            <a:pPr algn="l"/>
            <a:r>
              <a:rPr sz="1400" b="0">
                <a:solidFill>
                  <a:srgbClr val="9CA3AF"/>
                </a:solidFill>
                <a:latin typeface="맑은 고딕"/>
              </a:rPr>
              <a:t>도메인 지식 + 폴백 설계 + 정직한 결과 표시로</a:t>
            </a:r>
          </a:p>
          <a:p>
            <a:pPr algn="l"/>
            <a:r>
              <a:rPr sz="1400" b="0">
                <a:solidFill>
                  <a:srgbClr val="9CA3AF"/>
                </a:solidFill>
                <a:latin typeface="맑은 고딕"/>
              </a:rPr>
              <a:t>“실제로 작동하는” AI 도구를 만드는 시도였다.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63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60A5FA"/>
                </a:solidFill>
                <a:latin typeface="맑은 고딕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